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</p:sldIdLst>
  <p:sldSz cx="18288000" cy="10287000"/>
  <p:notesSz cx="6858000" cy="9144000"/>
  <p:embeddedFontLst>
    <p:embeddedFont>
      <p:font typeface="Open Sans" panose="020B0606030504020204" pitchFamily="34" charset="0"/>
      <p:regular r:id="rId13"/>
      <p:bold r:id="rId14"/>
      <p:italic r:id="rId15"/>
      <p:boldItalic r:id="rId16"/>
    </p:embeddedFont>
    <p:embeddedFont>
      <p:font typeface="Open Sans Bold" panose="020B0806030504020204" pitchFamily="34" charset="0"/>
      <p:regular r:id="rId17"/>
      <p:bold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 autoAdjust="0"/>
    <p:restoredTop sz="90159" autoAdjust="0"/>
  </p:normalViewPr>
  <p:slideViewPr>
    <p:cSldViewPr>
      <p:cViewPr varScale="1">
        <p:scale>
          <a:sx n="71" d="100"/>
          <a:sy n="71" d="100"/>
        </p:scale>
        <p:origin x="66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F62883-3305-0642-AC94-CAE65996E49C}" type="datetimeFigureOut">
              <a:rPr lang="en-AE" smtClean="0"/>
              <a:t>15/01/2026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07F272-044F-2749-8EEE-772C236C2825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64027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E" dirty="0"/>
              <a:t>Explain the focus is not about finding new planets but detection bias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07F272-044F-2749-8EEE-772C236C2825}" type="slidenum">
              <a:rPr lang="en-AE" smtClean="0"/>
              <a:t>1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465362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</a:t>
            </a:r>
            <a:r>
              <a:rPr lang="en-AE" dirty="0"/>
              <a:t>xplain briefly what exoplanets are </a:t>
            </a:r>
          </a:p>
          <a:p>
            <a:pPr marL="171450" indent="-171450">
              <a:buFontTx/>
              <a:buChar char="-"/>
            </a:pPr>
            <a:r>
              <a:rPr lang="en-AE" dirty="0"/>
              <a:t>Explain dataset was cleaned to keep entries that were complete in info</a:t>
            </a:r>
          </a:p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07F272-044F-2749-8EEE-772C236C2825}" type="slidenum">
              <a:rPr lang="en-AE" smtClean="0"/>
              <a:t>2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997131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</a:t>
            </a:r>
            <a:r>
              <a:rPr lang="en-AE" dirty="0"/>
              <a:t>xplain how summary statistics show strong skewness that indicate the existance of detection bias especially for close-in and massive exoplanets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07F272-044F-2749-8EEE-772C236C2825}" type="slidenum">
              <a:rPr lang="en-AE" smtClean="0"/>
              <a:t>3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2071558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</a:t>
            </a:r>
            <a:r>
              <a:rPr lang="en-AE" dirty="0"/>
              <a:t>xplain how the spikes relate to data processing timelines rather than actual surges in planet discoveries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07F272-044F-2749-8EEE-772C236C2825}" type="slidenum">
              <a:rPr lang="en-AE" smtClean="0"/>
              <a:t>4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978249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</a:t>
            </a:r>
            <a:r>
              <a:rPr lang="en-AE" dirty="0"/>
              <a:t>xplain that transit and radial velocity methods being dominant is not due to randomisation but rather these two being the most efficient and widely used methods due to its eff</a:t>
            </a:r>
            <a:r>
              <a:rPr lang="en-US" dirty="0" err="1"/>
              <a:t>i</a:t>
            </a:r>
            <a:r>
              <a:rPr lang="en-AE" dirty="0"/>
              <a:t>ciency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07F272-044F-2749-8EEE-772C236C2825}" type="slidenum">
              <a:rPr lang="en-AE" smtClean="0"/>
              <a:t>5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5086338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long right tail of the distribution indicates that a small number of very large gas giants strongly influence the overall range even though most planets are much smaller</a:t>
            </a:r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07F272-044F-2749-8EEE-772C236C2825}" type="slidenum">
              <a:rPr lang="en-AE" smtClean="0"/>
              <a:t>6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4607380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</a:t>
            </a:r>
            <a:r>
              <a:rPr lang="en-AE" dirty="0"/>
              <a:t>xplain that the absence of many small planets detected is due to a detection limitation and not the pure absence of these planets and </a:t>
            </a:r>
            <a:r>
              <a:rPr lang="en-US" dirty="0"/>
              <a:t>that the clustering of large planets at short orbital periods reflects observational practicality as frequent transits and strong signals are easier to detect and confirm</a:t>
            </a:r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07F272-044F-2749-8EEE-772C236C2825}" type="slidenum">
              <a:rPr lang="en-AE" smtClean="0"/>
              <a:t>7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0059057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E" dirty="0"/>
              <a:t>-explain that the mann-whitney u test was used instead of a t-test as there was strong skewness and violation of normality assumptions which are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07F272-044F-2749-8EEE-772C236C2825}" type="slidenum">
              <a:rPr lang="en-AE" smtClean="0"/>
              <a:t>8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1284765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Explain that this result provides strong statistical evidence to reject the null hypothesis which inherently confirms that the observed difference in radii between transit and radial velocity discoveries is a systematic effect rather than random sampling variation and this is shown through the p-value</a:t>
            </a:r>
          </a:p>
          <a:p>
            <a:r>
              <a:rPr lang="en-US" dirty="0"/>
              <a:t>-E</a:t>
            </a:r>
            <a:r>
              <a:rPr lang="en-AE" dirty="0"/>
              <a:t>xplain how github is moving to make users use PAT as opposed to passwords from 2026</a:t>
            </a:r>
          </a:p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07F272-044F-2749-8EEE-772C236C2825}" type="slidenum">
              <a:rPr lang="en-AE" smtClean="0"/>
              <a:t>9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5758471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</a:t>
            </a:r>
            <a:r>
              <a:rPr lang="en-AE" dirty="0"/>
              <a:t>xplain why macOS stores .DS_Store files and what they 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07F272-044F-2749-8EEE-772C236C2825}" type="slidenum">
              <a:rPr lang="en-AE" smtClean="0"/>
              <a:t>10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252676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2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1444978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44978" cy="812800"/>
            </a:xfrm>
            <a:custGeom>
              <a:avLst/>
              <a:gdLst/>
              <a:ahLst/>
              <a:cxnLst/>
              <a:rect l="l" t="t" r="r" b="b"/>
              <a:pathLst>
                <a:path w="1444978" h="812800">
                  <a:moveTo>
                    <a:pt x="0" y="0"/>
                  </a:moveTo>
                  <a:lnTo>
                    <a:pt x="1444978" y="0"/>
                  </a:lnTo>
                  <a:lnTo>
                    <a:pt x="144497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3"/>
              <a:stretch>
                <a:fillRect t="-5555" b="-5555"/>
              </a:stretch>
            </a:blipFill>
          </p:spPr>
          <p:txBody>
            <a:bodyPr/>
            <a:lstStyle/>
            <a:p>
              <a:endParaRPr lang="en-AE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28700" y="1047750"/>
            <a:ext cx="16230600" cy="7467600"/>
            <a:chOff x="0" y="0"/>
            <a:chExt cx="10191464" cy="468903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191464" cy="4689030"/>
            </a:xfrm>
            <a:custGeom>
              <a:avLst/>
              <a:gdLst/>
              <a:ahLst/>
              <a:cxnLst/>
              <a:rect l="l" t="t" r="r" b="b"/>
              <a:pathLst>
                <a:path w="10191464" h="4689030">
                  <a:moveTo>
                    <a:pt x="0" y="0"/>
                  </a:moveTo>
                  <a:lnTo>
                    <a:pt x="0" y="4689030"/>
                  </a:lnTo>
                  <a:lnTo>
                    <a:pt x="10191464" y="4689030"/>
                  </a:lnTo>
                  <a:lnTo>
                    <a:pt x="10191464" y="0"/>
                  </a:lnTo>
                  <a:lnTo>
                    <a:pt x="0" y="0"/>
                  </a:lnTo>
                  <a:close/>
                  <a:moveTo>
                    <a:pt x="10130504" y="4628071"/>
                  </a:moveTo>
                  <a:lnTo>
                    <a:pt x="59690" y="4628071"/>
                  </a:lnTo>
                  <a:lnTo>
                    <a:pt x="59690" y="59690"/>
                  </a:lnTo>
                  <a:lnTo>
                    <a:pt x="10130504" y="59690"/>
                  </a:lnTo>
                  <a:lnTo>
                    <a:pt x="10130504" y="4628071"/>
                  </a:lnTo>
                  <a:close/>
                </a:path>
              </a:pathLst>
            </a:custGeom>
            <a:solidFill>
              <a:srgbClr val="131313"/>
            </a:solidFill>
          </p:spPr>
          <p:txBody>
            <a:bodyPr/>
            <a:lstStyle/>
            <a:p>
              <a:endParaRPr lang="en-AE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7259241"/>
            <a:ext cx="16230600" cy="1807369"/>
            <a:chOff x="0" y="0"/>
            <a:chExt cx="21640800" cy="2409825"/>
          </a:xfrm>
        </p:grpSpPr>
        <p:sp>
          <p:nvSpPr>
            <p:cNvPr id="7" name="AutoShape 7"/>
            <p:cNvSpPr/>
            <p:nvPr/>
          </p:nvSpPr>
          <p:spPr>
            <a:xfrm>
              <a:off x="0" y="0"/>
              <a:ext cx="21640800" cy="2409825"/>
            </a:xfrm>
            <a:prstGeom prst="rect">
              <a:avLst/>
            </a:prstGeom>
            <a:solidFill>
              <a:srgbClr val="131313"/>
            </a:solidFill>
          </p:spPr>
          <p:txBody>
            <a:bodyPr/>
            <a:lstStyle/>
            <a:p>
              <a:endParaRPr lang="en-AE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517633" y="522287"/>
              <a:ext cx="14605533" cy="13557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028"/>
                </a:lnSpc>
              </a:pPr>
              <a:r>
                <a:rPr lang="en-US" sz="3357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Programming for Data Science Assessment</a:t>
              </a:r>
            </a:p>
            <a:p>
              <a:pPr marL="0" lvl="0" indent="0" algn="ctr">
                <a:lnSpc>
                  <a:spcPts val="4028"/>
                </a:lnSpc>
              </a:pPr>
              <a:r>
                <a:rPr lang="en-US" sz="3357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Dataset : NASA Exoplanet Archive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3095425" y="3419475"/>
            <a:ext cx="12097150" cy="1924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584"/>
              </a:lnSpc>
            </a:pPr>
            <a:r>
              <a:rPr lang="en-US" sz="632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Exoplanets Discoveries and Detection Bias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71999" y="271999"/>
            <a:ext cx="7908899" cy="9743002"/>
            <a:chOff x="0" y="0"/>
            <a:chExt cx="812800" cy="100129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1001291"/>
            </a:xfrm>
            <a:custGeom>
              <a:avLst/>
              <a:gdLst/>
              <a:ahLst/>
              <a:cxnLst/>
              <a:rect l="l" t="t" r="r" b="b"/>
              <a:pathLst>
                <a:path w="812800" h="1001291">
                  <a:moveTo>
                    <a:pt x="0" y="0"/>
                  </a:moveTo>
                  <a:lnTo>
                    <a:pt x="812800" y="0"/>
                  </a:lnTo>
                  <a:lnTo>
                    <a:pt x="812800" y="1001291"/>
                  </a:lnTo>
                  <a:lnTo>
                    <a:pt x="0" y="1001291"/>
                  </a:lnTo>
                  <a:close/>
                </a:path>
              </a:pathLst>
            </a:custGeom>
            <a:blipFill>
              <a:blip r:embed="rId3"/>
              <a:stretch>
                <a:fillRect l="-23914" r="-23914"/>
              </a:stretch>
            </a:blipFill>
          </p:spPr>
          <p:txBody>
            <a:bodyPr/>
            <a:lstStyle/>
            <a:p>
              <a:endParaRPr lang="en-AE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265250" y="907387"/>
            <a:ext cx="7767627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184"/>
              </a:lnSpc>
            </a:pPr>
            <a:r>
              <a:rPr lang="en-US" sz="682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Dataset Overview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65250" y="2570964"/>
            <a:ext cx="7767627" cy="6687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2416" lvl="1" indent="-236208" algn="l">
              <a:lnSpc>
                <a:spcPts val="2844"/>
              </a:lnSpc>
              <a:buFont typeface="Arial"/>
              <a:buChar char="•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Source : NASA Exoplanet Archive (PSCompPars Table)</a:t>
            </a:r>
          </a:p>
          <a:p>
            <a:pPr marL="472416" lvl="1" indent="-236208" algn="l">
              <a:lnSpc>
                <a:spcPts val="2844"/>
              </a:lnSpc>
              <a:buFont typeface="Arial"/>
              <a:buChar char="•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5,690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confirmed exoplanets after cleaning</a:t>
            </a:r>
          </a:p>
          <a:p>
            <a:pPr marL="472416" lvl="1" indent="-236208" algn="l">
              <a:lnSpc>
                <a:spcPts val="2844"/>
              </a:lnSpc>
              <a:buFont typeface="Arial"/>
              <a:buChar char="•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Research Question: Do planets discovered via the Transit method have different radii than those discovered via Radial Velocity?</a:t>
            </a:r>
          </a:p>
          <a:p>
            <a:pPr marL="472416" lvl="1" indent="-236208" algn="l">
              <a:lnSpc>
                <a:spcPts val="2844"/>
              </a:lnSpc>
              <a:buFont typeface="Arial"/>
              <a:buChar char="•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Key variables used: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Discovery method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categorises planets by detection technique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Discovery year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captures temporal trends in detections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Orbital period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indicates planet–star separation and detection bias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Planet radius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primary variable used to compare discovery methods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Planet mass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provides additional physical context for detected planets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Host star temperature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characterises stellar environments of detected planets</a:t>
            </a:r>
          </a:p>
        </p:txBody>
      </p:sp>
      <p:sp>
        <p:nvSpPr>
          <p:cNvPr id="6" name="AutoShape 6"/>
          <p:cNvSpPr/>
          <p:nvPr/>
        </p:nvSpPr>
        <p:spPr>
          <a:xfrm>
            <a:off x="9144000" y="2270927"/>
            <a:ext cx="8384422" cy="0"/>
          </a:xfrm>
          <a:prstGeom prst="line">
            <a:avLst/>
          </a:prstGeom>
          <a:ln w="104775" cap="flat">
            <a:solidFill>
              <a:srgbClr val="15225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31207" y="-781050"/>
            <a:ext cx="20345400" cy="2006048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2182600" y="1377398"/>
            <a:ext cx="13922800" cy="2326000"/>
          </a:xfrm>
          <a:custGeom>
            <a:avLst/>
            <a:gdLst/>
            <a:ahLst/>
            <a:cxnLst/>
            <a:rect l="l" t="t" r="r" b="b"/>
            <a:pathLst>
              <a:path w="13922800" h="2326000">
                <a:moveTo>
                  <a:pt x="0" y="0"/>
                </a:moveTo>
                <a:lnTo>
                  <a:pt x="13922800" y="0"/>
                </a:lnTo>
                <a:lnTo>
                  <a:pt x="13922800" y="2325999"/>
                </a:lnTo>
                <a:lnTo>
                  <a:pt x="0" y="23259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835"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-1176286" y="101048"/>
            <a:ext cx="10467355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Summary Statistics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23358" y="4052095"/>
            <a:ext cx="4870038" cy="2438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  <a:spcBef>
                <a:spcPct val="0"/>
              </a:spcBef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Orbital period (days)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11.1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Mean: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75,209, 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IQR: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4.3 - 39.4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Extreme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right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skew with values up to 4.02 × 10⁸ days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indicates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strong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detection bias toward short period planets</a:t>
            </a:r>
          </a:p>
          <a:p>
            <a:pPr algn="l">
              <a:lnSpc>
                <a:spcPts val="2459"/>
              </a:lnSpc>
              <a:spcBef>
                <a:spcPct val="0"/>
              </a:spcBef>
            </a:pPr>
            <a:endParaRPr lang="en-US" sz="204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708981" y="4052095"/>
            <a:ext cx="4870038" cy="2438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  <a:spcBef>
                <a:spcPct val="0"/>
              </a:spcBef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Planet radius (Earth radii)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2.73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Mean: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5.53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IQR: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0.31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-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10.98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Large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gap between median and maximum shows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overrepresentation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of large planets</a:t>
            </a:r>
          </a:p>
          <a:p>
            <a:pPr algn="l">
              <a:lnSpc>
                <a:spcPts val="2459"/>
              </a:lnSpc>
              <a:spcBef>
                <a:spcPct val="0"/>
              </a:spcBef>
            </a:pPr>
            <a:endParaRPr lang="en-US" sz="204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2599690" y="4052095"/>
            <a:ext cx="4870038" cy="213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  <a:spcBef>
                <a:spcPct val="0"/>
              </a:spcBef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Planet mass (Earth masses)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8.5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Mean: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327.8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IQR: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4 - 136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The mass distribution is swayed and dominated by a small number of very massive and heavy planets</a:t>
            </a:r>
          </a:p>
          <a:p>
            <a:pPr algn="l">
              <a:lnSpc>
                <a:spcPts val="2459"/>
              </a:lnSpc>
              <a:spcBef>
                <a:spcPct val="0"/>
              </a:spcBef>
            </a:pPr>
            <a:endParaRPr lang="en-US" sz="204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3596511" y="6795295"/>
            <a:ext cx="4870038" cy="304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  <a:spcBef>
                <a:spcPct val="0"/>
              </a:spcBef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Equilibrium temperature (K)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908, 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817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, IQR: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568–1,159 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Temperatures skew toward hot planets which imply dominance of shorter period, close-in orbits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It also reflects detection bias, as hotter planets produce stronger transit and radial velocity signals</a:t>
            </a:r>
          </a:p>
          <a:p>
            <a:pPr algn="l">
              <a:lnSpc>
                <a:spcPts val="2459"/>
              </a:lnSpc>
              <a:spcBef>
                <a:spcPct val="0"/>
              </a:spcBef>
            </a:pPr>
            <a:endParaRPr lang="en-US" sz="204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514961" y="6795295"/>
            <a:ext cx="4870038" cy="304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  <a:spcBef>
                <a:spcPct val="0"/>
              </a:spcBef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Host star temperature (K)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5,555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, IQR: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4,925–5,900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Most detected planets orbit Sun-like stars rather than very cool or very hot stars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reflects where searches are concentrated and under what circumstances the planet signals are easiest to measure</a:t>
            </a:r>
          </a:p>
          <a:p>
            <a:pPr algn="l">
              <a:lnSpc>
                <a:spcPts val="2459"/>
              </a:lnSpc>
              <a:spcBef>
                <a:spcPct val="0"/>
              </a:spcBef>
            </a:pPr>
            <a:endParaRPr lang="en-US" sz="204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1028700" y="3877746"/>
            <a:ext cx="16230600" cy="0"/>
          </a:xfrm>
          <a:prstGeom prst="line">
            <a:avLst/>
          </a:prstGeom>
          <a:ln w="47625" cap="flat">
            <a:solidFill>
              <a:srgbClr val="15225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0" y="2637155"/>
            <a:ext cx="8828193" cy="6621145"/>
          </a:xfrm>
          <a:custGeom>
            <a:avLst/>
            <a:gdLst/>
            <a:ahLst/>
            <a:cxnLst/>
            <a:rect l="l" t="t" r="r" b="b"/>
            <a:pathLst>
              <a:path w="8828193" h="6621145">
                <a:moveTo>
                  <a:pt x="0" y="0"/>
                </a:moveTo>
                <a:lnTo>
                  <a:pt x="8828193" y="0"/>
                </a:lnTo>
                <a:lnTo>
                  <a:pt x="8828193" y="6621145"/>
                </a:lnTo>
                <a:lnTo>
                  <a:pt x="0" y="6621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0467355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Discoveries over Time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725985" y="2589530"/>
            <a:ext cx="7533315" cy="6469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7944" lvl="1" indent="-303972" algn="just">
              <a:lnSpc>
                <a:spcPts val="3914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We can see a increase in discoveries from the mid-1990s to late 2000s due to the launch of the </a:t>
            </a:r>
            <a:r>
              <a:rPr lang="en-US" sz="2815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Hubble Telescope</a:t>
            </a:r>
          </a:p>
          <a:p>
            <a:pPr marL="607944" lvl="1" indent="-303972" algn="just">
              <a:lnSpc>
                <a:spcPts val="3914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Sharp rise in detections between 2014 and 2017 due to the increase in </a:t>
            </a:r>
            <a:r>
              <a:rPr lang="en-US" sz="2815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Kepler</a:t>
            </a: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Missions by NASA and again in 2021 due to the launch of the </a:t>
            </a:r>
            <a:r>
              <a:rPr lang="en-US" sz="2815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James Webb Telescope</a:t>
            </a:r>
          </a:p>
          <a:p>
            <a:pPr marL="607944" lvl="1" indent="-303972" algn="just">
              <a:lnSpc>
                <a:spcPts val="3914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Spikes reflect large batches of planet validated and confirmed together.</a:t>
            </a:r>
          </a:p>
          <a:p>
            <a:pPr marL="607944" lvl="1" indent="-303972" algn="just">
              <a:lnSpc>
                <a:spcPts val="3914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Trends represent observational activity rather than true planet formation rates</a:t>
            </a:r>
          </a:p>
          <a:p>
            <a:pPr algn="just">
              <a:lnSpc>
                <a:spcPts val="3914"/>
              </a:lnSpc>
            </a:pPr>
            <a:endParaRPr lang="en-US" sz="2815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9078546" y="2637155"/>
            <a:ext cx="8828193" cy="6621145"/>
          </a:xfrm>
          <a:custGeom>
            <a:avLst/>
            <a:gdLst/>
            <a:ahLst/>
            <a:cxnLst/>
            <a:rect l="l" t="t" r="r" b="b"/>
            <a:pathLst>
              <a:path w="8828193" h="6621145">
                <a:moveTo>
                  <a:pt x="0" y="0"/>
                </a:moveTo>
                <a:lnTo>
                  <a:pt x="8828193" y="0"/>
                </a:lnTo>
                <a:lnTo>
                  <a:pt x="8828193" y="6621145"/>
                </a:lnTo>
                <a:lnTo>
                  <a:pt x="0" y="6621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2463943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Dominant Discovery Methods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2507213"/>
            <a:ext cx="8594509" cy="7437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From the graph,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Transit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method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dominates detections due to it: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Allowing monitoring of thousands of stars simultaneously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Being highly efficient at detecting planets that pass in front of their stars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Radial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velocity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is the second most common method as it: 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Detects planets by measuring small movements of the host star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Particularly effective for identifying massive planets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Other methods contribute smaller samples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Often require specialised conditions or instruments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Typically detect a narrower range of planet types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315807" y="2915551"/>
            <a:ext cx="8828193" cy="6621145"/>
          </a:xfrm>
          <a:custGeom>
            <a:avLst/>
            <a:gdLst/>
            <a:ahLst/>
            <a:cxnLst/>
            <a:rect l="l" t="t" r="r" b="b"/>
            <a:pathLst>
              <a:path w="8828193" h="6621145">
                <a:moveTo>
                  <a:pt x="0" y="0"/>
                </a:moveTo>
                <a:lnTo>
                  <a:pt x="8828193" y="0"/>
                </a:lnTo>
                <a:lnTo>
                  <a:pt x="8828193" y="6621145"/>
                </a:lnTo>
                <a:lnTo>
                  <a:pt x="0" y="6621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2463943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Distribution of Planet Radii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485775" y="2377271"/>
            <a:ext cx="8594509" cy="6999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Strong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right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-skew in planet sizes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Most detected planets have relatively small radii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small number of very large planets extend the upper tail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High concentration of planets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below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~4 Earth radii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Indicates frequent detection of Earth-sized and super-Earth planets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Reflects improved sensitivity of modern transit surveys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Distinct population of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large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gas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giants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Large planets are easier to detect due to stronger signals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Results in overrepresentation compared to their true occurrence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9460707" y="2807875"/>
            <a:ext cx="8463337" cy="6347503"/>
          </a:xfrm>
          <a:custGeom>
            <a:avLst/>
            <a:gdLst/>
            <a:ahLst/>
            <a:cxnLst/>
            <a:rect l="l" t="t" r="r" b="b"/>
            <a:pathLst>
              <a:path w="8463337" h="6347503">
                <a:moveTo>
                  <a:pt x="0" y="0"/>
                </a:moveTo>
                <a:lnTo>
                  <a:pt x="8463337" y="0"/>
                </a:lnTo>
                <a:lnTo>
                  <a:pt x="8463337" y="6347503"/>
                </a:lnTo>
                <a:lnTo>
                  <a:pt x="0" y="63475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3914963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Orbital Period vs Planet Radius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2507213"/>
            <a:ext cx="9330847" cy="7437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Larger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planets cluster at short orbital periods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Many detected large planets orbit very close to their stars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Close-in planets produce stronger, easier-to-detect signals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Small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planets become rare at long orbital periods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Detection of small planets decreases rapidly as orbital period increases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Long period planets require long observation times and repeated measurements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Log–log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scaling showcases a clear structure across wide ranges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Makes patterns visible throughout several orders of magnitude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Prevents shorter period planets from visually dominating the plot</a:t>
            </a:r>
          </a:p>
          <a:p>
            <a:pPr algn="l">
              <a:lnSpc>
                <a:spcPts val="3463"/>
              </a:lnSpc>
            </a:pPr>
            <a:endParaRPr lang="en-US" sz="2815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315807" y="2566534"/>
            <a:ext cx="8828193" cy="6621145"/>
          </a:xfrm>
          <a:custGeom>
            <a:avLst/>
            <a:gdLst/>
            <a:ahLst/>
            <a:cxnLst/>
            <a:rect l="l" t="t" r="r" b="b"/>
            <a:pathLst>
              <a:path w="8828193" h="6621145">
                <a:moveTo>
                  <a:pt x="0" y="0"/>
                </a:moveTo>
                <a:lnTo>
                  <a:pt x="8828193" y="0"/>
                </a:lnTo>
                <a:lnTo>
                  <a:pt x="8828193" y="6621145"/>
                </a:lnTo>
                <a:lnTo>
                  <a:pt x="0" y="6621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4348104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Planet Radius vs Discovery Method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485775" y="2377271"/>
            <a:ext cx="8594509" cy="7611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Transit method detects smaller median planet radii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Includes a broad range of small and medium-sized planets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It is sensitive to </a:t>
            </a:r>
            <a:r>
              <a:rPr lang="en-US" sz="2815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shallow</a:t>
            </a: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signals produced by smaller planets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Radial velocity detects larger planets on average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 radius is </a:t>
            </a:r>
            <a:r>
              <a:rPr lang="en-US" sz="2815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higher</a:t>
            </a: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than for transit detections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It is more effective at detecting planets that strongly influence their host stars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Visual differences are statistically confirmed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Mann–Whitney U test applied to radius distributions instead of t-test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p-value = </a:t>
            </a:r>
            <a:r>
              <a:rPr lang="en-US" sz="2815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3.38 × 10⁻²⁰⁰</a:t>
            </a:r>
            <a:r>
              <a:rPr lang="en-US" sz="281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indicating a significant difference and we reject the null hypothesis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2514600" y="6466690"/>
            <a:ext cx="13010132" cy="889725"/>
          </a:xfrm>
          <a:custGeom>
            <a:avLst/>
            <a:gdLst/>
            <a:ahLst/>
            <a:cxnLst/>
            <a:rect l="l" t="t" r="r" b="b"/>
            <a:pathLst>
              <a:path w="13010132" h="889725">
                <a:moveTo>
                  <a:pt x="0" y="0"/>
                </a:moveTo>
                <a:lnTo>
                  <a:pt x="13010132" y="0"/>
                </a:lnTo>
                <a:lnTo>
                  <a:pt x="13010132" y="889725"/>
                </a:lnTo>
                <a:lnTo>
                  <a:pt x="0" y="8897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6954500" cy="9524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Conclusion and Challenges with the Code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7962900"/>
            <a:ext cx="18288000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While trying to authenticate myself, git threw an error in which password authentication is no longer supported. To fix this error I used a PAT (Personal Access Token) and configuring credential storage which was saved on the macOS Keychain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D94734DC-45FF-3409-A8F6-36549D93F2F6}"/>
              </a:ext>
            </a:extLst>
          </p:cNvPr>
          <p:cNvSpPr txBox="1"/>
          <p:nvPr/>
        </p:nvSpPr>
        <p:spPr>
          <a:xfrm>
            <a:off x="-184150" y="2438973"/>
            <a:ext cx="18288000" cy="2165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799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Conclusion</a:t>
            </a:r>
            <a:r>
              <a:rPr lang="en-US" sz="27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</a:p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800" dirty="0"/>
              <a:t>The analysis performed demonstrates that exoplanets that were discovered using the Transit method do have a significantly smaller radii on average when compared to the exoplanets discovered using the Radial Velocity method. This difference was statistically confirmed using the Mann-Whitney U test, which showed an extremely low p-value once again confirming that differences in exoplanet radii is driven by discovery methods rather than random occurrences.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473D7603-DDD5-323E-6D12-6E867427D224}"/>
              </a:ext>
            </a:extLst>
          </p:cNvPr>
          <p:cNvSpPr txBox="1"/>
          <p:nvPr/>
        </p:nvSpPr>
        <p:spPr>
          <a:xfrm>
            <a:off x="-304800" y="5611007"/>
            <a:ext cx="18288000" cy="855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799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Challenges:</a:t>
            </a:r>
            <a:endParaRPr lang="en-US" sz="2799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endParaRPr lang="en-US" sz="2799" b="1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3640529" y="2512141"/>
            <a:ext cx="11006942" cy="1488263"/>
          </a:xfrm>
          <a:custGeom>
            <a:avLst/>
            <a:gdLst/>
            <a:ahLst/>
            <a:cxnLst/>
            <a:rect l="l" t="t" r="r" b="b"/>
            <a:pathLst>
              <a:path w="11006942" h="1488263">
                <a:moveTo>
                  <a:pt x="0" y="0"/>
                </a:moveTo>
                <a:lnTo>
                  <a:pt x="11006942" y="0"/>
                </a:lnTo>
                <a:lnTo>
                  <a:pt x="11006942" y="1488262"/>
                </a:lnTo>
                <a:lnTo>
                  <a:pt x="0" y="14882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Freeform 4"/>
          <p:cNvSpPr/>
          <p:nvPr/>
        </p:nvSpPr>
        <p:spPr>
          <a:xfrm>
            <a:off x="2289811" y="4998069"/>
            <a:ext cx="13708378" cy="2673134"/>
          </a:xfrm>
          <a:custGeom>
            <a:avLst/>
            <a:gdLst/>
            <a:ahLst/>
            <a:cxnLst/>
            <a:rect l="l" t="t" r="r" b="b"/>
            <a:pathLst>
              <a:path w="13708378" h="2673134">
                <a:moveTo>
                  <a:pt x="0" y="0"/>
                </a:moveTo>
                <a:lnTo>
                  <a:pt x="13708378" y="0"/>
                </a:lnTo>
                <a:lnTo>
                  <a:pt x="13708378" y="2673134"/>
                </a:lnTo>
                <a:lnTo>
                  <a:pt x="0" y="26731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5" name="TextBox 5"/>
          <p:cNvSpPr txBox="1"/>
          <p:nvPr/>
        </p:nvSpPr>
        <p:spPr>
          <a:xfrm>
            <a:off x="1028700" y="542925"/>
            <a:ext cx="14348104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Challenges with the Code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0" y="3992639"/>
            <a:ext cx="182880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When loading the dataset into python, I ran into an error where the original dataset by NASA consists of comments using #, for which I used this code to combat that hurdle.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0" y="8420100"/>
            <a:ext cx="17868900" cy="855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While </a:t>
            </a:r>
            <a:r>
              <a:rPr lang="en-US" sz="2799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reorganising</a:t>
            </a:r>
            <a:r>
              <a:rPr lang="en-US" sz="27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files, bash exposed macOS system files being stored ending in .</a:t>
            </a:r>
            <a:r>
              <a:rPr lang="en-US" sz="2799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DS_Store</a:t>
            </a:r>
            <a:r>
              <a:rPr lang="en-US" sz="27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I used .</a:t>
            </a:r>
            <a:r>
              <a:rPr lang="en-US" sz="2799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gitignore</a:t>
            </a:r>
            <a:r>
              <a:rPr lang="en-US" sz="27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to remove unwanted system artefacts so as to not cause further error down the 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1091</TotalTime>
  <Words>1212</Words>
  <Application>Microsoft Macintosh PowerPoint</Application>
  <PresentationFormat>Custom</PresentationFormat>
  <Paragraphs>108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Open Sans</vt:lpstr>
      <vt:lpstr>Open Sans Bold</vt:lpstr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Dark Blue Cyan Modular Abstract Team Meeting Agenda Business Presentation</dc:title>
  <cp:lastModifiedBy>Mohammed Warsi</cp:lastModifiedBy>
  <cp:revision>3</cp:revision>
  <dcterms:created xsi:type="dcterms:W3CDTF">2006-08-16T00:00:00Z</dcterms:created>
  <dcterms:modified xsi:type="dcterms:W3CDTF">2026-01-15T08:50:58Z</dcterms:modified>
  <dc:identifier>DAG-YU3fF1Y</dc:identifier>
</cp:coreProperties>
</file>