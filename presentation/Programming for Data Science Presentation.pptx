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20B0606030504020204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5555" r="0" b="-5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47750"/>
            <a:ext cx="16230600" cy="7467600"/>
            <a:chOff x="0" y="0"/>
            <a:chExt cx="10191464" cy="46890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91464" cy="4689030"/>
            </a:xfrm>
            <a:custGeom>
              <a:avLst/>
              <a:gdLst/>
              <a:ahLst/>
              <a:cxnLst/>
              <a:rect r="r" b="b" t="t" l="l"/>
              <a:pathLst>
                <a:path h="4689030" w="10191464">
                  <a:moveTo>
                    <a:pt x="0" y="0"/>
                  </a:moveTo>
                  <a:lnTo>
                    <a:pt x="0" y="4689030"/>
                  </a:lnTo>
                  <a:lnTo>
                    <a:pt x="10191464" y="4689030"/>
                  </a:lnTo>
                  <a:lnTo>
                    <a:pt x="10191464" y="0"/>
                  </a:lnTo>
                  <a:lnTo>
                    <a:pt x="0" y="0"/>
                  </a:lnTo>
                  <a:close/>
                  <a:moveTo>
                    <a:pt x="10130504" y="4628071"/>
                  </a:moveTo>
                  <a:lnTo>
                    <a:pt x="59690" y="4628071"/>
                  </a:lnTo>
                  <a:lnTo>
                    <a:pt x="59690" y="59690"/>
                  </a:lnTo>
                  <a:lnTo>
                    <a:pt x="10130504" y="59690"/>
                  </a:lnTo>
                  <a:lnTo>
                    <a:pt x="10130504" y="4628071"/>
                  </a:lnTo>
                  <a:close/>
                </a:path>
              </a:pathLst>
            </a:custGeom>
            <a:solidFill>
              <a:srgbClr val="1313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7259241"/>
            <a:ext cx="16230600" cy="1807369"/>
            <a:chOff x="0" y="0"/>
            <a:chExt cx="21640800" cy="2409825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21640800" cy="2409825"/>
            </a:xfrm>
            <a:prstGeom prst="rect">
              <a:avLst/>
            </a:prstGeom>
            <a:solidFill>
              <a:srgbClr val="131313"/>
            </a:solid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517633" y="522287"/>
              <a:ext cx="14605533" cy="135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28"/>
                </a:lnSpc>
              </a:pPr>
              <a:r>
                <a:rPr lang="en-US" sz="335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Programming for Data Science Assessment</a:t>
              </a:r>
            </a:p>
            <a:p>
              <a:pPr algn="ctr" marL="0" indent="0" lvl="0">
                <a:lnSpc>
                  <a:spcPts val="4028"/>
                </a:lnSpc>
              </a:pPr>
              <a:r>
                <a:rPr lang="en-US" sz="335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Dataset : NASA Exoplanet Archive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95425" y="3419475"/>
            <a:ext cx="1209715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84"/>
              </a:lnSpc>
            </a:pPr>
            <a:r>
              <a:rPr lang="en-US" b="true" sz="632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Exoplanets Discoveries and Detection Bias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1999" y="271999"/>
            <a:ext cx="7908899" cy="9743002"/>
            <a:chOff x="0" y="0"/>
            <a:chExt cx="812800" cy="1001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01291"/>
            </a:xfrm>
            <a:custGeom>
              <a:avLst/>
              <a:gdLst/>
              <a:ahLst/>
              <a:cxnLst/>
              <a:rect r="r" b="b" t="t" l="l"/>
              <a:pathLst>
                <a:path h="100129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01291"/>
                  </a:lnTo>
                  <a:lnTo>
                    <a:pt x="0" y="1001291"/>
                  </a:lnTo>
                  <a:close/>
                </a:path>
              </a:pathLst>
            </a:custGeom>
            <a:blipFill>
              <a:blip r:embed="rId2"/>
              <a:stretch>
                <a:fillRect l="-23914" t="0" r="-2391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65250" y="907387"/>
            <a:ext cx="77676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4"/>
              </a:lnSpc>
            </a:pPr>
            <a:r>
              <a:rPr lang="en-US" b="true" sz="68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65250" y="2570964"/>
            <a:ext cx="7767627" cy="668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16" indent="-236208" lvl="1">
              <a:lnSpc>
                <a:spcPts val="2844"/>
              </a:lnSpc>
              <a:buFont typeface="Arial"/>
              <a:buChar char="•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: NASA Exoplanet Archive (PSCompPars Table)</a:t>
            </a:r>
          </a:p>
          <a:p>
            <a:pPr algn="l" marL="472416" indent="-236208" lvl="1">
              <a:lnSpc>
                <a:spcPts val="2844"/>
              </a:lnSpc>
              <a:buFont typeface="Arial"/>
              <a:buChar char="•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5,690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confirmed exoplanets after cleaning</a:t>
            </a:r>
          </a:p>
          <a:p>
            <a:pPr algn="l" marL="472416" indent="-236208" lvl="1">
              <a:lnSpc>
                <a:spcPts val="2844"/>
              </a:lnSpc>
              <a:buFont typeface="Arial"/>
              <a:buChar char="•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Question: Do planets discovered via the Transit method have different radii than those discovered via Radial Velocity?</a:t>
            </a:r>
          </a:p>
          <a:p>
            <a:pPr algn="l" marL="472416" indent="-236208" lvl="1">
              <a:lnSpc>
                <a:spcPts val="2844"/>
              </a:lnSpc>
              <a:buFont typeface="Arial"/>
              <a:buChar char="•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variables used: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Discovery method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categorises planets by detection technique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Discovery year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captures temporal trends in detections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Orbital period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 planet–star separation and detection bias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Planet radius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primary variable used to compare discovery methods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Planet mass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provides additional physical context for detected planets</a:t>
            </a:r>
          </a:p>
          <a:p>
            <a:pPr algn="l" marL="944832" indent="-314944" lvl="2">
              <a:lnSpc>
                <a:spcPts val="2844"/>
              </a:lnSpc>
              <a:buFont typeface="Arial"/>
              <a:buChar char="⚬"/>
            </a:pPr>
            <a:r>
              <a:rPr lang="en-US" b="true" sz="21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Host star temperature – </a:t>
            </a:r>
            <a:r>
              <a:rPr lang="en-US" sz="21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characterises stellar environments of detected planets</a:t>
            </a:r>
          </a:p>
        </p:txBody>
      </p:sp>
      <p:sp>
        <p:nvSpPr>
          <p:cNvPr name="AutoShape 6" id="6"/>
          <p:cNvSpPr/>
          <p:nvPr/>
        </p:nvSpPr>
        <p:spPr>
          <a:xfrm>
            <a:off x="9144000" y="2270927"/>
            <a:ext cx="8384422" cy="0"/>
          </a:xfrm>
          <a:prstGeom prst="line">
            <a:avLst/>
          </a:prstGeom>
          <a:ln cap="flat" w="104775">
            <a:solidFill>
              <a:srgbClr val="1522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31207" y="-781050"/>
            <a:ext cx="20345400" cy="2006048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182600" y="1377398"/>
            <a:ext cx="13922800" cy="2326000"/>
          </a:xfrm>
          <a:custGeom>
            <a:avLst/>
            <a:gdLst/>
            <a:ahLst/>
            <a:cxnLst/>
            <a:rect r="r" b="b" t="t" l="l"/>
            <a:pathLst>
              <a:path h="2326000" w="13922800">
                <a:moveTo>
                  <a:pt x="0" y="0"/>
                </a:moveTo>
                <a:lnTo>
                  <a:pt x="13922800" y="0"/>
                </a:lnTo>
                <a:lnTo>
                  <a:pt x="13922800" y="2325999"/>
                </a:lnTo>
                <a:lnTo>
                  <a:pt x="0" y="2325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8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176286" y="101048"/>
            <a:ext cx="1046735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Summary Statistics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358" y="4052095"/>
            <a:ext cx="487003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Orbital peri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od (days)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11.1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Mean: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75,209,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IQR: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4.3 - 39.4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Extreme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right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skew with values up to 4.02 × 10⁸ days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ndicates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detection bias toward short period planets</a:t>
            </a:r>
          </a:p>
          <a:p>
            <a:pPr algn="l">
              <a:lnSpc>
                <a:spcPts val="24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708981" y="4052095"/>
            <a:ext cx="487003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Planet radius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(Earth radii)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2.73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Mean: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5.53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IQR: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0.31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10.98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rge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 between median and maximum s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hows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overrepr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esentation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of large planets</a:t>
            </a:r>
          </a:p>
          <a:p>
            <a:pPr algn="l">
              <a:lnSpc>
                <a:spcPts val="24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599690" y="4052095"/>
            <a:ext cx="487003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Planet mass (Earth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masses)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8.5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Mean: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327.8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IQR: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4 - 136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ibuti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swayed and dominated by a small number of very massive and heavy planets</a:t>
            </a:r>
          </a:p>
          <a:p>
            <a:pPr algn="l">
              <a:lnSpc>
                <a:spcPts val="24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96511" y="6795295"/>
            <a:ext cx="487003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Equilibrium temperature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(K)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908,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817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, IQR: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568–1,159 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ures skew toward hot planets which imply dominance of s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horter period, close-i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orbits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also reflects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detection bias, as hotter planets produce stronger transit and radial velocity signals</a:t>
            </a:r>
          </a:p>
          <a:p>
            <a:pPr algn="l">
              <a:lnSpc>
                <a:spcPts val="24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14961" y="6795295"/>
            <a:ext cx="4870038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Host st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 temperature (K)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5,555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, IQR: </a:t>
            </a:r>
            <a:r>
              <a:rPr lang="en-US" b="true" sz="204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4,925–5,900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detected planets orbit Sun-like stars rat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her than very cool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hot sta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  <a:p>
            <a:pPr algn="l" marL="442460" indent="-221230" lvl="1">
              <a:lnSpc>
                <a:spcPts val="2459"/>
              </a:lnSpc>
              <a:spcBef>
                <a:spcPct val="0"/>
              </a:spcBef>
              <a:buFont typeface="Arial"/>
              <a:buChar char="•"/>
            </a:pP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reflects whe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searches ar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co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ncentrated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and under what circumstances the plane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signals are easiest to measure</a:t>
            </a:r>
          </a:p>
          <a:p>
            <a:pPr algn="l">
              <a:lnSpc>
                <a:spcPts val="2459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1028700" y="3877746"/>
            <a:ext cx="16230600" cy="0"/>
          </a:xfrm>
          <a:prstGeom prst="line">
            <a:avLst/>
          </a:prstGeom>
          <a:ln cap="flat" w="47625">
            <a:solidFill>
              <a:srgbClr val="1522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637155"/>
            <a:ext cx="8828193" cy="6621145"/>
          </a:xfrm>
          <a:custGeom>
            <a:avLst/>
            <a:gdLst/>
            <a:ahLst/>
            <a:cxnLst/>
            <a:rect r="r" b="b" t="t" l="l"/>
            <a:pathLst>
              <a:path h="6621145" w="8828193">
                <a:moveTo>
                  <a:pt x="0" y="0"/>
                </a:moveTo>
                <a:lnTo>
                  <a:pt x="8828193" y="0"/>
                </a:lnTo>
                <a:lnTo>
                  <a:pt x="8828193" y="6621145"/>
                </a:lnTo>
                <a:lnTo>
                  <a:pt x="0" y="6621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046735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Discoveries over Time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5985" y="2589530"/>
            <a:ext cx="7533315" cy="740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7944" indent="-303972" lvl="1">
              <a:lnSpc>
                <a:spcPts val="3914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can see a  increase in disc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overies from the mid-1990s to late 2000s due to the launch of the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Hubble Telescope</a:t>
            </a:r>
          </a:p>
          <a:p>
            <a:pPr algn="just" marL="607944" indent="-303972" lvl="1">
              <a:lnSpc>
                <a:spcPts val="3914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Sharp rise in detections between 2014 and 2017 due to the increase in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Kepler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Missions by NASA and again in 2021 due to the launch of the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James Webb Telescope</a:t>
            </a:r>
          </a:p>
          <a:p>
            <a:pPr algn="just" marL="607944" indent="-303972" lvl="1">
              <a:lnSpc>
                <a:spcPts val="3914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Spikes reflect large batches of planet validated and confirmed together.</a:t>
            </a:r>
          </a:p>
          <a:p>
            <a:pPr algn="just" marL="607944" indent="-303972" lvl="1">
              <a:lnSpc>
                <a:spcPts val="3914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Discovery counts also depend on survey missions and data processing timelines</a:t>
            </a:r>
          </a:p>
          <a:p>
            <a:pPr algn="just" marL="607944" indent="-303972" lvl="1">
              <a:lnSpc>
                <a:spcPts val="3914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Trends represent observational activity rather than true planet formation rates</a:t>
            </a:r>
          </a:p>
          <a:p>
            <a:pPr algn="just">
              <a:lnSpc>
                <a:spcPts val="391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078546" y="2637155"/>
            <a:ext cx="8828193" cy="6621145"/>
          </a:xfrm>
          <a:custGeom>
            <a:avLst/>
            <a:gdLst/>
            <a:ahLst/>
            <a:cxnLst/>
            <a:rect r="r" b="b" t="t" l="l"/>
            <a:pathLst>
              <a:path h="6621145" w="8828193">
                <a:moveTo>
                  <a:pt x="0" y="0"/>
                </a:moveTo>
                <a:lnTo>
                  <a:pt x="8828193" y="0"/>
                </a:lnTo>
                <a:lnTo>
                  <a:pt x="8828193" y="6621145"/>
                </a:lnTo>
                <a:lnTo>
                  <a:pt x="0" y="6621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246394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Dominant Discovery Methods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507213"/>
            <a:ext cx="8594509" cy="743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the graph,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dominates detections due to it: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Allowing monitoring of thousands of stars sim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tan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ly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Being highly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efficient at detecting planets that pass in f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 of their stars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Radial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velocity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the 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seco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 most common method as it: 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Detects planets by measuring small movements of the host star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Particularly effective for identifying massive planets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Other methods contribute smaller samples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Often require specialised conditions or instruments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Typically detect a narrower range of planet types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15807" y="2915551"/>
            <a:ext cx="8828193" cy="6621145"/>
          </a:xfrm>
          <a:custGeom>
            <a:avLst/>
            <a:gdLst/>
            <a:ahLst/>
            <a:cxnLst/>
            <a:rect r="r" b="b" t="t" l="l"/>
            <a:pathLst>
              <a:path h="6621145" w="8828193">
                <a:moveTo>
                  <a:pt x="0" y="0"/>
                </a:moveTo>
                <a:lnTo>
                  <a:pt x="8828193" y="0"/>
                </a:lnTo>
                <a:lnTo>
                  <a:pt x="8828193" y="6621145"/>
                </a:lnTo>
                <a:lnTo>
                  <a:pt x="0" y="6621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246394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Distribution of Planet Radii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85775" y="2377271"/>
            <a:ext cx="8594509" cy="699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ight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-sk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 in planet sizes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 detected planets have relatively small radii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small number of very large p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ets ext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 the upper tail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concentration of planets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below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~4 Earth radii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Indicates f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 detection of Earth-sized and super-Earth planets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lect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improved 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nsitivity of modern transit surveys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Distinct population of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large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gas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giants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Large planets are easier to detect due to stronger signals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 in overrepresentation compared to their true occurrence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460707" y="2807875"/>
            <a:ext cx="8463337" cy="6347503"/>
          </a:xfrm>
          <a:custGeom>
            <a:avLst/>
            <a:gdLst/>
            <a:ahLst/>
            <a:cxnLst/>
            <a:rect r="r" b="b" t="t" l="l"/>
            <a:pathLst>
              <a:path h="6347503" w="8463337">
                <a:moveTo>
                  <a:pt x="0" y="0"/>
                </a:moveTo>
                <a:lnTo>
                  <a:pt x="8463337" y="0"/>
                </a:lnTo>
                <a:lnTo>
                  <a:pt x="8463337" y="6347503"/>
                </a:lnTo>
                <a:lnTo>
                  <a:pt x="0" y="634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391496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Orbital Period vs Planet Radius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507213"/>
            <a:ext cx="9330847" cy="743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Larger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clust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rt orbital periods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Many detected large planets orbit very close to their stars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Close-in p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ets pr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oduc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stronger,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easier-to-detect signals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Small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planets become rare at long orbita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ods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ectio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of small planets decreases rapidly as orbital period increases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Long period planets require long observation times and repeated measurements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Log–log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scaling showcases a clear structure across wide ranges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Makes patterns visible throughout several orders of magnitude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Prevents shorter period planets from visually dominating the plot</a:t>
            </a:r>
          </a:p>
          <a:p>
            <a:pPr algn="l">
              <a:lnSpc>
                <a:spcPts val="346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15807" y="2566534"/>
            <a:ext cx="8828193" cy="6621145"/>
          </a:xfrm>
          <a:custGeom>
            <a:avLst/>
            <a:gdLst/>
            <a:ahLst/>
            <a:cxnLst/>
            <a:rect r="r" b="b" t="t" l="l"/>
            <a:pathLst>
              <a:path h="6621145" w="8828193">
                <a:moveTo>
                  <a:pt x="0" y="0"/>
                </a:moveTo>
                <a:lnTo>
                  <a:pt x="8828193" y="0"/>
                </a:lnTo>
                <a:lnTo>
                  <a:pt x="8828193" y="6621145"/>
                </a:lnTo>
                <a:lnTo>
                  <a:pt x="0" y="6621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434810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Planet Radius vs Discovery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85775" y="2377271"/>
            <a:ext cx="8594509" cy="743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method detects smaller median planet radii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Includes a broad range of small and medium-sized planets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is sensitive to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shallow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signals produced by smaller planets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Radial velocity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detects larg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 planets on average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Median radius is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higher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than for transit detections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is more effective at detecting planets that strongly influence their host stars</a:t>
            </a:r>
          </a:p>
          <a:p>
            <a:pPr algn="l" marL="607944" indent="-303972" lvl="1">
              <a:lnSpc>
                <a:spcPts val="3463"/>
              </a:lnSpc>
              <a:buFont typeface="Arial"/>
              <a:buChar char="•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isual differences are statistically confirmed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Mann–Whitney U test applied to radius distributions instead of t-test</a:t>
            </a:r>
          </a:p>
          <a:p>
            <a:pPr algn="l" marL="1215888" indent="-405296" lvl="2">
              <a:lnSpc>
                <a:spcPts val="3463"/>
              </a:lnSpc>
              <a:buFont typeface="Arial"/>
              <a:buChar char="⚬"/>
            </a:pP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p-value = </a:t>
            </a:r>
            <a:r>
              <a:rPr lang="en-US" b="true" sz="28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3.38 × 10⁻²⁰⁰</a:t>
            </a:r>
            <a:r>
              <a:rPr lang="en-US" sz="28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indicating a significant difference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640529" y="2512141"/>
            <a:ext cx="11006942" cy="1488263"/>
          </a:xfrm>
          <a:custGeom>
            <a:avLst/>
            <a:gdLst/>
            <a:ahLst/>
            <a:cxnLst/>
            <a:rect r="r" b="b" t="t" l="l"/>
            <a:pathLst>
              <a:path h="1488263" w="11006942">
                <a:moveTo>
                  <a:pt x="0" y="0"/>
                </a:moveTo>
                <a:lnTo>
                  <a:pt x="11006942" y="0"/>
                </a:lnTo>
                <a:lnTo>
                  <a:pt x="11006942" y="1488262"/>
                </a:lnTo>
                <a:lnTo>
                  <a:pt x="0" y="1488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9811" y="4998069"/>
            <a:ext cx="13708378" cy="2673134"/>
          </a:xfrm>
          <a:custGeom>
            <a:avLst/>
            <a:gdLst/>
            <a:ahLst/>
            <a:cxnLst/>
            <a:rect r="r" b="b" t="t" l="l"/>
            <a:pathLst>
              <a:path h="2673134" w="13708378">
                <a:moveTo>
                  <a:pt x="0" y="0"/>
                </a:moveTo>
                <a:lnTo>
                  <a:pt x="13708378" y="0"/>
                </a:lnTo>
                <a:lnTo>
                  <a:pt x="13708378" y="2673134"/>
                </a:lnTo>
                <a:lnTo>
                  <a:pt x="0" y="2673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2925"/>
            <a:ext cx="1434810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 with the 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992639"/>
            <a:ext cx="182880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loading the dataset into python, I ran into an error where the original dataset by NASA consists of comments using #, for which I used this code to combat that hurdle.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420100"/>
            <a:ext cx="178689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While reorganising files, bash exposed macOS system files being stored ending in .DS_Store. I used .gitignore to remove unwanted system artefacts so as to not cause further error down the line.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09550" y="-781050"/>
            <a:ext cx="20345400" cy="2895600"/>
          </a:xfrm>
          <a:prstGeom prst="rect">
            <a:avLst/>
          </a:prstGeom>
          <a:solidFill>
            <a:srgbClr val="15225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638934" y="3225960"/>
            <a:ext cx="13010132" cy="889725"/>
          </a:xfrm>
          <a:custGeom>
            <a:avLst/>
            <a:gdLst/>
            <a:ahLst/>
            <a:cxnLst/>
            <a:rect r="r" b="b" t="t" l="l"/>
            <a:pathLst>
              <a:path h="889725" w="13010132">
                <a:moveTo>
                  <a:pt x="0" y="0"/>
                </a:moveTo>
                <a:lnTo>
                  <a:pt x="13010132" y="0"/>
                </a:lnTo>
                <a:lnTo>
                  <a:pt x="13010132" y="889725"/>
                </a:lnTo>
                <a:lnTo>
                  <a:pt x="0" y="88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2925"/>
            <a:ext cx="1434810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 with the Code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954977"/>
            <a:ext cx="182880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While trying to authenticate myself, git threw an error in which password authentication is no longer supported. To fix this error I used a PAT (Personal Access Token) and configuring credential storage which was saved on the macOS Keychain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DAG-YU3fF1Y</dc:identifier>
  <dcterms:modified xsi:type="dcterms:W3CDTF">2011-08-01T06:04:30Z</dcterms:modified>
  <cp:revision>1</cp:revision>
  <dc:title>Dark Blue Cyan Modular Abstract Team Meeting Agenda Business Presentation</dc:title>
</cp:coreProperties>
</file>